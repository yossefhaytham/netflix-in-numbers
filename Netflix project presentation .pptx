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880600" cy="6858000"/>
  <p:notesSz cx="6858000" cy="9144000"/>
  <p:embeddedFontLst>
    <p:embeddedFont>
      <p:font typeface="Arial MT Pro" panose="020B0604020202020204" charset="0"/>
      <p:regular r:id="rId24"/>
    </p:embeddedFont>
    <p:embeddedFont>
      <p:font typeface="Arial MT Pro Bold" panose="020B0604020202020204" charset="0"/>
      <p:regular r:id="rId25"/>
    </p:embeddedFont>
    <p:embeddedFont>
      <p:font typeface="Arimo" panose="020B0604020202020204" charset="0"/>
      <p:regular r:id="rId26"/>
    </p:embeddedFont>
    <p:embeddedFont>
      <p:font typeface="Arimo Bold" panose="020B0604020202020204" charset="0"/>
      <p:regular r:id="rId27"/>
    </p:embeddedFont>
    <p:embeddedFont>
      <p:font typeface="Chunk Five" panose="020B0604020202020204" charset="0"/>
      <p:regular r:id="rId28"/>
    </p:embeddedFont>
    <p:embeddedFont>
      <p:font typeface="DM Sans Bold" panose="020B0604020202020204" charset="0"/>
      <p:regular r:id="rId29"/>
    </p:embeddedFont>
    <p:embeddedFont>
      <p:font typeface="Merriweather" panose="00000500000000000000" pitchFamily="2" charset="0"/>
      <p:regular r:id="rId30"/>
    </p:embeddedFont>
    <p:embeddedFont>
      <p:font typeface="Merriweather Bold" panose="00000800000000000000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38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9153" y="247012"/>
            <a:ext cx="1599009" cy="524094"/>
            <a:chOff x="0" y="0"/>
            <a:chExt cx="2132012" cy="69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076" cy="698754"/>
            </a:xfrm>
            <a:custGeom>
              <a:avLst/>
              <a:gdLst/>
              <a:ahLst/>
              <a:cxnLst/>
              <a:rect l="l" t="t" r="r" b="b"/>
              <a:pathLst>
                <a:path w="2132076" h="698754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3" r="2" b="-12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495900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" b="-207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16395" y="2336332"/>
            <a:ext cx="9349957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Netflix in Numbers</a:t>
            </a:r>
          </a:p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 Comprehensive Look at the Content Library and Platform Trends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395" y="4632786"/>
            <a:ext cx="6045003" cy="44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599" b="1">
                <a:solidFill>
                  <a:srgbClr val="00B3E3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SIC – AI801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9104" y="1843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990" y="1868158"/>
            <a:ext cx="8803148" cy="342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Problem Statement and Data 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Predashboard (Power Query)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Dashboard 1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Dashboard 2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7591176" y="1962555"/>
            <a:ext cx="1762372" cy="2629683"/>
            <a:chOff x="0" y="0"/>
            <a:chExt cx="2349829" cy="350624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36941" r="36941"/>
            <a:stretch>
              <a:fillRect/>
            </a:stretch>
          </p:blipFill>
          <p:spPr>
            <a:xfrm>
              <a:off x="0" y="0"/>
              <a:ext cx="2349829" cy="3506243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5150144" y="1981234"/>
            <a:ext cx="1762372" cy="2611004"/>
            <a:chOff x="0" y="0"/>
            <a:chExt cx="2349829" cy="348133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 l="16251" r="16251"/>
            <a:stretch>
              <a:fillRect/>
            </a:stretch>
          </p:blipFill>
          <p:spPr>
            <a:xfrm>
              <a:off x="0" y="0"/>
              <a:ext cx="2349829" cy="3481339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2956674" y="1981234"/>
            <a:ext cx="1982057" cy="2611004"/>
            <a:chOff x="0" y="0"/>
            <a:chExt cx="2642743" cy="3481339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rcRect t="19228" b="19228"/>
            <a:stretch>
              <a:fillRect/>
            </a:stretch>
          </p:blipFill>
          <p:spPr>
            <a:xfrm>
              <a:off x="0" y="0"/>
              <a:ext cx="2642743" cy="3481339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535231" y="1981234"/>
            <a:ext cx="1982057" cy="2611004"/>
            <a:chOff x="0" y="0"/>
            <a:chExt cx="2642743" cy="3481339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/>
            <a:srcRect l="5224" r="5224"/>
            <a:stretch>
              <a:fillRect/>
            </a:stretch>
          </p:blipFill>
          <p:spPr>
            <a:xfrm>
              <a:off x="0" y="0"/>
              <a:ext cx="2642743" cy="3481339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60149" y="1962555"/>
            <a:ext cx="1957139" cy="2629683"/>
            <a:chOff x="0" y="0"/>
            <a:chExt cx="1070608" cy="14385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0608" cy="1438508"/>
            </a:xfrm>
            <a:custGeom>
              <a:avLst/>
              <a:gdLst/>
              <a:ahLst/>
              <a:cxnLst/>
              <a:rect l="l" t="t" r="r" b="b"/>
              <a:pathLst>
                <a:path w="1070608" h="1438508">
                  <a:moveTo>
                    <a:pt x="0" y="0"/>
                  </a:moveTo>
                  <a:lnTo>
                    <a:pt x="1070608" y="0"/>
                  </a:lnTo>
                  <a:lnTo>
                    <a:pt x="1070608" y="1438508"/>
                  </a:lnTo>
                  <a:lnTo>
                    <a:pt x="0" y="143850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070608" cy="1486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969134" y="1962555"/>
            <a:ext cx="1957139" cy="2629683"/>
            <a:chOff x="0" y="0"/>
            <a:chExt cx="1070608" cy="14385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0608" cy="1438508"/>
            </a:xfrm>
            <a:custGeom>
              <a:avLst/>
              <a:gdLst/>
              <a:ahLst/>
              <a:cxnLst/>
              <a:rect l="l" t="t" r="r" b="b"/>
              <a:pathLst>
                <a:path w="1070608" h="1438508">
                  <a:moveTo>
                    <a:pt x="0" y="0"/>
                  </a:moveTo>
                  <a:lnTo>
                    <a:pt x="1070608" y="0"/>
                  </a:lnTo>
                  <a:lnTo>
                    <a:pt x="1070608" y="1438508"/>
                  </a:lnTo>
                  <a:lnTo>
                    <a:pt x="0" y="143850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70608" cy="1486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50144" y="1981234"/>
            <a:ext cx="1762372" cy="2629683"/>
            <a:chOff x="0" y="0"/>
            <a:chExt cx="964065" cy="14385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4065" cy="1438508"/>
            </a:xfrm>
            <a:custGeom>
              <a:avLst/>
              <a:gdLst/>
              <a:ahLst/>
              <a:cxnLst/>
              <a:rect l="l" t="t" r="r" b="b"/>
              <a:pathLst>
                <a:path w="964065" h="1438508">
                  <a:moveTo>
                    <a:pt x="0" y="0"/>
                  </a:moveTo>
                  <a:lnTo>
                    <a:pt x="964065" y="0"/>
                  </a:lnTo>
                  <a:lnTo>
                    <a:pt x="964065" y="1438508"/>
                  </a:lnTo>
                  <a:lnTo>
                    <a:pt x="0" y="143850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64065" cy="1486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73245" y="1981234"/>
            <a:ext cx="1957139" cy="2629683"/>
            <a:chOff x="0" y="0"/>
            <a:chExt cx="1070608" cy="14385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0608" cy="1438508"/>
            </a:xfrm>
            <a:custGeom>
              <a:avLst/>
              <a:gdLst/>
              <a:ahLst/>
              <a:cxnLst/>
              <a:rect l="l" t="t" r="r" b="b"/>
              <a:pathLst>
                <a:path w="1070608" h="1438508">
                  <a:moveTo>
                    <a:pt x="0" y="0"/>
                  </a:moveTo>
                  <a:lnTo>
                    <a:pt x="1070608" y="0"/>
                  </a:lnTo>
                  <a:lnTo>
                    <a:pt x="1070608" y="1438508"/>
                  </a:lnTo>
                  <a:lnTo>
                    <a:pt x="0" y="143850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070608" cy="1486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42987" y="1081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2595" y="4942993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Yossef Haytham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69804" y="4942993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Hamdy Osama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07741" y="4942993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Rahma Hosam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67012" y="4942993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Asser Hanafy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869578"/>
            <a:ext cx="68019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 Statement &amp; Data 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08223"/>
            <a:chOff x="0" y="0"/>
            <a:chExt cx="13203809" cy="12109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210964"/>
            </a:xfrm>
            <a:custGeom>
              <a:avLst/>
              <a:gdLst/>
              <a:ahLst/>
              <a:cxnLst/>
              <a:rect l="l" t="t" r="r" b="b"/>
              <a:pathLst>
                <a:path w="13203810" h="1210964">
                  <a:moveTo>
                    <a:pt x="0" y="0"/>
                  </a:moveTo>
                  <a:lnTo>
                    <a:pt x="13203810" y="0"/>
                  </a:lnTo>
                  <a:lnTo>
                    <a:pt x="13203810" y="1210964"/>
                  </a:lnTo>
                  <a:lnTo>
                    <a:pt x="0" y="1210964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3024660" y="3314710"/>
            <a:ext cx="4139760" cy="3126381"/>
          </a:xfrm>
          <a:custGeom>
            <a:avLst/>
            <a:gdLst/>
            <a:ahLst/>
            <a:cxnLst/>
            <a:rect l="l" t="t" r="r" b="b"/>
            <a:pathLst>
              <a:path w="4139760" h="3126381">
                <a:moveTo>
                  <a:pt x="0" y="0"/>
                </a:moveTo>
                <a:lnTo>
                  <a:pt x="4139760" y="0"/>
                </a:lnTo>
                <a:lnTo>
                  <a:pt x="4139760" y="3126381"/>
                </a:lnTo>
                <a:lnTo>
                  <a:pt x="0" y="3126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847" y="184328"/>
            <a:ext cx="6730394" cy="72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933" y="1171052"/>
            <a:ext cx="9042918" cy="210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193EB0"/>
                </a:solidFill>
                <a:latin typeface="Arial MT Pro"/>
                <a:ea typeface="Arial MT Pro"/>
                <a:cs typeface="Arial MT Pro"/>
                <a:sym typeface="Arial MT Pro"/>
              </a:rPr>
              <a:t>▶</a:t>
            </a: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Netflix needs to understand exactly what kind of content they     </a:t>
            </a:r>
          </a:p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    have, where it comes from, and who it is meant for. The main</a:t>
            </a:r>
          </a:p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    challenge is figuring out what types of movies, TV shows,</a:t>
            </a:r>
          </a:p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    genres, and age ratings are the most popular so they can make </a:t>
            </a:r>
          </a:p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    better choices about what to add to their library, both globally</a:t>
            </a:r>
          </a:p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    and in specific countries like Egypt.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5506558" y="4049657"/>
            <a:ext cx="3345879" cy="2505724"/>
          </a:xfrm>
          <a:custGeom>
            <a:avLst/>
            <a:gdLst/>
            <a:ahLst/>
            <a:cxnLst/>
            <a:rect l="l" t="t" r="r" b="b"/>
            <a:pathLst>
              <a:path w="3345879" h="2505724">
                <a:moveTo>
                  <a:pt x="0" y="0"/>
                </a:moveTo>
                <a:lnTo>
                  <a:pt x="3345879" y="0"/>
                </a:lnTo>
                <a:lnTo>
                  <a:pt x="3345879" y="2505724"/>
                </a:lnTo>
                <a:lnTo>
                  <a:pt x="0" y="2505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865530" y="3491787"/>
            <a:ext cx="4422574" cy="2949304"/>
          </a:xfrm>
          <a:custGeom>
            <a:avLst/>
            <a:gdLst/>
            <a:ahLst/>
            <a:cxnLst/>
            <a:rect l="l" t="t" r="r" b="b"/>
            <a:pathLst>
              <a:path w="4422574" h="2949304">
                <a:moveTo>
                  <a:pt x="0" y="0"/>
                </a:moveTo>
                <a:lnTo>
                  <a:pt x="4422574" y="0"/>
                </a:lnTo>
                <a:lnTo>
                  <a:pt x="4422574" y="2949304"/>
                </a:lnTo>
                <a:lnTo>
                  <a:pt x="0" y="2949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104" y="184328"/>
            <a:ext cx="6730394" cy="72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Main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933" y="1472649"/>
            <a:ext cx="9353084" cy="107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193EB0"/>
                </a:solidFill>
                <a:latin typeface="Arial MT Pro"/>
                <a:ea typeface="Arial MT Pro"/>
                <a:cs typeface="Arial MT Pro"/>
                <a:sym typeface="Arial MT Pro"/>
              </a:rPr>
              <a:t>▶ </a:t>
            </a:r>
            <a:r>
              <a:rPr lang="en-US" sz="229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Movies vs. TV Shows:</a:t>
            </a: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Does Netflix have more movies or TV shows, and how much has the total number of titles grown between between the years?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2190" y="2679255"/>
            <a:ext cx="9353084" cy="39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193EB0"/>
                </a:solidFill>
                <a:latin typeface="Arial MT Pro"/>
                <a:ea typeface="Arial MT Pro"/>
                <a:cs typeface="Arial MT Pro"/>
                <a:sym typeface="Arial MT Pro"/>
              </a:rPr>
              <a:t>▶ </a:t>
            </a:r>
            <a:r>
              <a:rPr lang="en-US" sz="229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Top Countries:</a:t>
            </a: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Which countries make the most content for Netflix?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2190" y="3200149"/>
            <a:ext cx="9353084" cy="107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193EB0"/>
                </a:solidFill>
                <a:latin typeface="Arial MT Pro"/>
                <a:ea typeface="Arial MT Pro"/>
                <a:cs typeface="Arial MT Pro"/>
                <a:sym typeface="Arial MT Pro"/>
              </a:rPr>
              <a:t>▶ </a:t>
            </a:r>
            <a:r>
              <a:rPr lang="en-US" sz="229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Target Audience:</a:t>
            </a: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What age groups (like TV-MA or TV-14) get the most content? Do these age groups get more movies or more TV shows?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348071"/>
            <a:chOff x="0" y="0"/>
            <a:chExt cx="13203809" cy="1797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797375"/>
            </a:xfrm>
            <a:custGeom>
              <a:avLst/>
              <a:gdLst/>
              <a:ahLst/>
              <a:cxnLst/>
              <a:rect l="l" t="t" r="r" b="b"/>
              <a:pathLst>
                <a:path w="13203810" h="1797375">
                  <a:moveTo>
                    <a:pt x="0" y="0"/>
                  </a:moveTo>
                  <a:lnTo>
                    <a:pt x="13203810" y="0"/>
                  </a:lnTo>
                  <a:lnTo>
                    <a:pt x="13203810" y="1797375"/>
                  </a:lnTo>
                  <a:lnTo>
                    <a:pt x="0" y="1797375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1359622" y="3909200"/>
            <a:ext cx="4203526" cy="2531891"/>
          </a:xfrm>
          <a:custGeom>
            <a:avLst/>
            <a:gdLst/>
            <a:ahLst/>
            <a:cxnLst/>
            <a:rect l="l" t="t" r="r" b="b"/>
            <a:pathLst>
              <a:path w="4203526" h="2531891">
                <a:moveTo>
                  <a:pt x="0" y="0"/>
                </a:moveTo>
                <a:lnTo>
                  <a:pt x="4203526" y="0"/>
                </a:lnTo>
                <a:lnTo>
                  <a:pt x="4203526" y="2531891"/>
                </a:lnTo>
                <a:lnTo>
                  <a:pt x="0" y="2531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023720" y="3909200"/>
            <a:ext cx="2449406" cy="2449406"/>
          </a:xfrm>
          <a:custGeom>
            <a:avLst/>
            <a:gdLst/>
            <a:ahLst/>
            <a:cxnLst/>
            <a:rect l="l" t="t" r="r" b="b"/>
            <a:pathLst>
              <a:path w="2449406" h="2449406">
                <a:moveTo>
                  <a:pt x="0" y="0"/>
                </a:moveTo>
                <a:lnTo>
                  <a:pt x="2449406" y="0"/>
                </a:lnTo>
                <a:lnTo>
                  <a:pt x="2449406" y="2449406"/>
                </a:lnTo>
                <a:lnTo>
                  <a:pt x="0" y="2449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7409" y="280990"/>
            <a:ext cx="6730394" cy="72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Main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886" y="1593269"/>
            <a:ext cx="9353084" cy="733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193EB0"/>
                </a:solidFill>
                <a:latin typeface="Arial MT Pro"/>
                <a:ea typeface="Arial MT Pro"/>
                <a:cs typeface="Arial MT Pro"/>
                <a:sym typeface="Arial MT Pro"/>
              </a:rPr>
              <a:t>▶ </a:t>
            </a:r>
            <a:r>
              <a:rPr lang="en-US" sz="229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Average Lengths:</a:t>
            </a: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On average, how many minutes long are the movies, and how many seasons do the TV shows usually have?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4886" y="2417420"/>
            <a:ext cx="9353084" cy="107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9">
                <a:solidFill>
                  <a:srgbClr val="193EB0"/>
                </a:solidFill>
                <a:latin typeface="Arial MT Pro"/>
                <a:ea typeface="Arial MT Pro"/>
                <a:cs typeface="Arial MT Pro"/>
                <a:sym typeface="Arial MT Pro"/>
              </a:rPr>
              <a:t>▶ </a:t>
            </a:r>
            <a:r>
              <a:rPr lang="en-US" sz="229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Country Spotlight (Egypt):</a:t>
            </a:r>
            <a:r>
              <a:rPr lang="en-US" sz="2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What does the Netflix library look like in Egypt? For example, do they have a stronger focus on movies over TV shows, and what are the top five genres there?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10" y="2869578"/>
            <a:ext cx="2120890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-12697" y="1196819"/>
            <a:ext cx="9890160" cy="4975381"/>
            <a:chOff x="0" y="0"/>
            <a:chExt cx="13214307" cy="66476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14178" cy="6647689"/>
            </a:xfrm>
            <a:custGeom>
              <a:avLst/>
              <a:gdLst/>
              <a:ahLst/>
              <a:cxnLst/>
              <a:rect l="l" t="t" r="r" b="b"/>
              <a:pathLst>
                <a:path w="13214178" h="6647689">
                  <a:moveTo>
                    <a:pt x="0" y="0"/>
                  </a:moveTo>
                  <a:lnTo>
                    <a:pt x="13214178" y="0"/>
                  </a:lnTo>
                  <a:lnTo>
                    <a:pt x="13214178" y="6647689"/>
                  </a:lnTo>
                  <a:lnTo>
                    <a:pt x="0" y="664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88" b="-68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Movie Runtime by Rating Boxplot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3210" y="902530"/>
            <a:ext cx="9886950" cy="5311661"/>
            <a:chOff x="0" y="0"/>
            <a:chExt cx="12301171" cy="66086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01050" cy="6608728"/>
            </a:xfrm>
            <a:custGeom>
              <a:avLst/>
              <a:gdLst/>
              <a:ahLst/>
              <a:cxnLst/>
              <a:rect l="l" t="t" r="r" b="b"/>
              <a:pathLst>
                <a:path w="12301050" h="6608728">
                  <a:moveTo>
                    <a:pt x="0" y="0"/>
                  </a:moveTo>
                  <a:lnTo>
                    <a:pt x="12301050" y="0"/>
                  </a:lnTo>
                  <a:lnTo>
                    <a:pt x="12301050" y="6608728"/>
                  </a:lnTo>
                  <a:lnTo>
                    <a:pt x="0" y="6608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44" b="-444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Genre Heatmap by Year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3210" y="871214"/>
            <a:ext cx="9886950" cy="5342976"/>
            <a:chOff x="0" y="0"/>
            <a:chExt cx="12301171" cy="66476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01050" cy="6647689"/>
            </a:xfrm>
            <a:custGeom>
              <a:avLst/>
              <a:gdLst/>
              <a:ahLst/>
              <a:cxnLst/>
              <a:rect l="l" t="t" r="r" b="b"/>
              <a:pathLst>
                <a:path w="12301050" h="6647689">
                  <a:moveTo>
                    <a:pt x="0" y="0"/>
                  </a:moveTo>
                  <a:lnTo>
                    <a:pt x="12301050" y="0"/>
                  </a:lnTo>
                  <a:lnTo>
                    <a:pt x="12301050" y="6647689"/>
                  </a:lnTo>
                  <a:lnTo>
                    <a:pt x="0" y="664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050" b="-505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695" y="222428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Country Diverging Bar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956772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Predashboard</a:t>
            </a: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(Power Query)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2070544"/>
            <a:chOff x="0" y="0"/>
            <a:chExt cx="13203809" cy="2760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2760726"/>
            </a:xfrm>
            <a:custGeom>
              <a:avLst/>
              <a:gdLst/>
              <a:ahLst/>
              <a:cxnLst/>
              <a:rect l="l" t="t" r="r" b="b"/>
              <a:pathLst>
                <a:path w="13203810" h="2760726">
                  <a:moveTo>
                    <a:pt x="0" y="0"/>
                  </a:moveTo>
                  <a:lnTo>
                    <a:pt x="13203810" y="0"/>
                  </a:lnTo>
                  <a:lnTo>
                    <a:pt x="13203810" y="2760726"/>
                  </a:lnTo>
                  <a:lnTo>
                    <a:pt x="0" y="2760726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767" y="2185297"/>
            <a:ext cx="9627723" cy="3986903"/>
            <a:chOff x="0" y="0"/>
            <a:chExt cx="12001662" cy="4969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01595" cy="4969910"/>
            </a:xfrm>
            <a:custGeom>
              <a:avLst/>
              <a:gdLst/>
              <a:ahLst/>
              <a:cxnLst/>
              <a:rect l="l" t="t" r="r" b="b"/>
              <a:pathLst>
                <a:path w="12001595" h="4969910">
                  <a:moveTo>
                    <a:pt x="0" y="0"/>
                  </a:moveTo>
                  <a:lnTo>
                    <a:pt x="12001595" y="0"/>
                  </a:lnTo>
                  <a:lnTo>
                    <a:pt x="12001595" y="4969910"/>
                  </a:lnTo>
                  <a:lnTo>
                    <a:pt x="0" y="4969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2" b="-4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802" y="890864"/>
            <a:ext cx="8343897" cy="408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Netflix Data Model – Star Schema Relationships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3898" y="848229"/>
            <a:ext cx="334476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id="4" name="AutoShape 4"/>
          <p:cNvSpPr/>
          <p:nvPr/>
        </p:nvSpPr>
        <p:spPr>
          <a:xfrm>
            <a:off x="-26836" y="1743686"/>
            <a:ext cx="2945074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445702" y="3823080"/>
            <a:ext cx="7189547" cy="1093061"/>
            <a:chOff x="0" y="0"/>
            <a:chExt cx="9586063" cy="145741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640771" cy="1456927"/>
              <a:chOff x="0" y="0"/>
              <a:chExt cx="1375043" cy="43168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75043" cy="431682"/>
              </a:xfrm>
              <a:custGeom>
                <a:avLst/>
                <a:gdLst/>
                <a:ahLst/>
                <a:cxnLst/>
                <a:rect l="l" t="t" r="r" b="b"/>
                <a:pathLst>
                  <a:path w="1375043" h="431682">
                    <a:moveTo>
                      <a:pt x="24468" y="0"/>
                    </a:moveTo>
                    <a:lnTo>
                      <a:pt x="1350576" y="0"/>
                    </a:lnTo>
                    <a:cubicBezTo>
                      <a:pt x="1364089" y="0"/>
                      <a:pt x="1375043" y="10954"/>
                      <a:pt x="1375043" y="24468"/>
                    </a:cubicBezTo>
                    <a:lnTo>
                      <a:pt x="1375043" y="407215"/>
                    </a:lnTo>
                    <a:cubicBezTo>
                      <a:pt x="1375043" y="420728"/>
                      <a:pt x="1364089" y="431682"/>
                      <a:pt x="1350576" y="431682"/>
                    </a:cubicBezTo>
                    <a:lnTo>
                      <a:pt x="24468" y="431682"/>
                    </a:lnTo>
                    <a:cubicBezTo>
                      <a:pt x="10954" y="431682"/>
                      <a:pt x="0" y="420728"/>
                      <a:pt x="0" y="407215"/>
                    </a:cubicBezTo>
                    <a:lnTo>
                      <a:pt x="0" y="24468"/>
                    </a:lnTo>
                    <a:cubicBezTo>
                      <a:pt x="0" y="10954"/>
                      <a:pt x="10954" y="0"/>
                      <a:pt x="24468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1375043" cy="4602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14225" y="0"/>
              <a:ext cx="4831802" cy="1456927"/>
              <a:chOff x="0" y="0"/>
              <a:chExt cx="1431645" cy="43168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31645" cy="431682"/>
              </a:xfrm>
              <a:custGeom>
                <a:avLst/>
                <a:gdLst/>
                <a:ahLst/>
                <a:cxnLst/>
                <a:rect l="l" t="t" r="r" b="b"/>
                <a:pathLst>
                  <a:path w="1431645" h="431682">
                    <a:moveTo>
                      <a:pt x="23500" y="0"/>
                    </a:moveTo>
                    <a:lnTo>
                      <a:pt x="1408145" y="0"/>
                    </a:lnTo>
                    <a:cubicBezTo>
                      <a:pt x="1414377" y="0"/>
                      <a:pt x="1420355" y="2476"/>
                      <a:pt x="1424762" y="6883"/>
                    </a:cubicBezTo>
                    <a:cubicBezTo>
                      <a:pt x="1429169" y="11290"/>
                      <a:pt x="1431645" y="17268"/>
                      <a:pt x="1431645" y="23500"/>
                    </a:cubicBezTo>
                    <a:lnTo>
                      <a:pt x="1431645" y="408182"/>
                    </a:lnTo>
                    <a:cubicBezTo>
                      <a:pt x="1431645" y="414415"/>
                      <a:pt x="1429169" y="420392"/>
                      <a:pt x="1424762" y="424799"/>
                    </a:cubicBezTo>
                    <a:cubicBezTo>
                      <a:pt x="1420355" y="429206"/>
                      <a:pt x="1414377" y="431682"/>
                      <a:pt x="1408145" y="431682"/>
                    </a:cubicBezTo>
                    <a:lnTo>
                      <a:pt x="23500" y="431682"/>
                    </a:lnTo>
                    <a:cubicBezTo>
                      <a:pt x="10521" y="431682"/>
                      <a:pt x="0" y="421161"/>
                      <a:pt x="0" y="408182"/>
                    </a:cubicBezTo>
                    <a:lnTo>
                      <a:pt x="0" y="23500"/>
                    </a:lnTo>
                    <a:cubicBezTo>
                      <a:pt x="0" y="17268"/>
                      <a:pt x="2476" y="11290"/>
                      <a:pt x="6883" y="6883"/>
                    </a:cubicBezTo>
                    <a:cubicBezTo>
                      <a:pt x="11290" y="2476"/>
                      <a:pt x="17268" y="0"/>
                      <a:pt x="235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1431645" cy="4602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59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V="1">
              <a:off x="4614225" y="57295"/>
              <a:ext cx="26881" cy="139963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68512"/>
              <a:ext cx="4754932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35353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NETFLIX CONTENT 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35353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OVERVIEW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4932" y="230624"/>
              <a:ext cx="4831132" cy="862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35353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NETFLIX CONTENT </a:t>
              </a:r>
            </a:p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35353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STRATEGY 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67721" y="2318740"/>
            <a:ext cx="895150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 b="1">
                <a:solidFill>
                  <a:srgbClr val="CAD4E0"/>
                </a:solidFill>
                <a:latin typeface="Arimo Bold"/>
                <a:ea typeface="Arimo Bold"/>
                <a:cs typeface="Arimo Bold"/>
                <a:sym typeface="Arimo Bold"/>
              </a:rPr>
              <a:t>Dual-page dashboard</a:t>
            </a:r>
          </a:p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Platform Overview and Strategic Insights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8530" y="1741599"/>
            <a:ext cx="7271071" cy="4186094"/>
          </a:xfrm>
          <a:custGeom>
            <a:avLst/>
            <a:gdLst/>
            <a:ahLst/>
            <a:cxnLst/>
            <a:rect l="l" t="t" r="r" b="b"/>
            <a:pathLst>
              <a:path w="7271071" h="4186094">
                <a:moveTo>
                  <a:pt x="0" y="0"/>
                </a:moveTo>
                <a:lnTo>
                  <a:pt x="7271072" y="0"/>
                </a:lnTo>
                <a:lnTo>
                  <a:pt x="7271072" y="4186094"/>
                </a:lnTo>
                <a:lnTo>
                  <a:pt x="0" y="4186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8" r="-87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2595" y="275137"/>
            <a:ext cx="7682941" cy="95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</a:pPr>
            <a:r>
              <a:rPr lang="en-US" sz="30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Quick Look on Netflix Content Overview</a:t>
            </a:r>
          </a:p>
          <a:p>
            <a:pPr algn="ctr">
              <a:lnSpc>
                <a:spcPts val="3718"/>
              </a:lnSpc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Page One</a:t>
            </a:r>
          </a:p>
        </p:txBody>
      </p:sp>
      <p:sp>
        <p:nvSpPr>
          <p:cNvPr id="5" name="Freeform 5"/>
          <p:cNvSpPr/>
          <p:nvPr/>
        </p:nvSpPr>
        <p:spPr>
          <a:xfrm rot="1864657">
            <a:off x="7411817" y="1126303"/>
            <a:ext cx="2370066" cy="2385678"/>
          </a:xfrm>
          <a:custGeom>
            <a:avLst/>
            <a:gdLst/>
            <a:ahLst/>
            <a:cxnLst/>
            <a:rect l="l" t="t" r="r" b="b"/>
            <a:pathLst>
              <a:path w="2370066" h="2385678">
                <a:moveTo>
                  <a:pt x="0" y="0"/>
                </a:moveTo>
                <a:lnTo>
                  <a:pt x="2370066" y="0"/>
                </a:lnTo>
                <a:lnTo>
                  <a:pt x="2370066" y="2385678"/>
                </a:lnTo>
                <a:lnTo>
                  <a:pt x="0" y="2385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31" t="-400" b="-400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3" y="31290"/>
            <a:ext cx="9902857" cy="1027462"/>
            <a:chOff x="0" y="0"/>
            <a:chExt cx="13203809" cy="1369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9949"/>
            </a:xfrm>
            <a:custGeom>
              <a:avLst/>
              <a:gdLst/>
              <a:ahLst/>
              <a:cxnLst/>
              <a:rect l="l" t="t" r="r" b="b"/>
              <a:pathLst>
                <a:path w="13203810" h="1369949">
                  <a:moveTo>
                    <a:pt x="0" y="0"/>
                  </a:moveTo>
                  <a:lnTo>
                    <a:pt x="13203810" y="0"/>
                  </a:lnTo>
                  <a:lnTo>
                    <a:pt x="13203810" y="1369949"/>
                  </a:lnTo>
                  <a:lnTo>
                    <a:pt x="0" y="1369949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39207" y="4315835"/>
            <a:ext cx="4412521" cy="1718827"/>
          </a:xfrm>
          <a:custGeom>
            <a:avLst/>
            <a:gdLst/>
            <a:ahLst/>
            <a:cxnLst/>
            <a:rect l="l" t="t" r="r" b="b"/>
            <a:pathLst>
              <a:path w="4412521" h="1718827">
                <a:moveTo>
                  <a:pt x="0" y="0"/>
                </a:moveTo>
                <a:lnTo>
                  <a:pt x="4412521" y="0"/>
                </a:lnTo>
                <a:lnTo>
                  <a:pt x="4412521" y="1718826"/>
                </a:lnTo>
                <a:lnTo>
                  <a:pt x="0" y="171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" t="-638" b="-63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-976682">
            <a:off x="5277814" y="3465133"/>
            <a:ext cx="1918831" cy="1130366"/>
          </a:xfrm>
          <a:custGeom>
            <a:avLst/>
            <a:gdLst/>
            <a:ahLst/>
            <a:cxnLst/>
            <a:rect l="l" t="t" r="r" b="b"/>
            <a:pathLst>
              <a:path w="1918831" h="1130366">
                <a:moveTo>
                  <a:pt x="0" y="0"/>
                </a:moveTo>
                <a:lnTo>
                  <a:pt x="1918831" y="0"/>
                </a:lnTo>
                <a:lnTo>
                  <a:pt x="1918831" y="1130365"/>
                </a:lnTo>
                <a:lnTo>
                  <a:pt x="0" y="1130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5509461" y="1604657"/>
            <a:ext cx="4202162" cy="1699489"/>
          </a:xfrm>
          <a:custGeom>
            <a:avLst/>
            <a:gdLst/>
            <a:ahLst/>
            <a:cxnLst/>
            <a:rect l="l" t="t" r="r" b="b"/>
            <a:pathLst>
              <a:path w="4202162" h="1699489">
                <a:moveTo>
                  <a:pt x="0" y="0"/>
                </a:moveTo>
                <a:lnTo>
                  <a:pt x="4202162" y="0"/>
                </a:lnTo>
                <a:lnTo>
                  <a:pt x="4202162" y="1699490"/>
                </a:lnTo>
                <a:lnTo>
                  <a:pt x="0" y="1699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864" y="262452"/>
            <a:ext cx="649180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Some Key Findings from the Data 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60108" y="1063534"/>
            <a:ext cx="5149353" cy="79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353534"/>
                </a:solidFill>
                <a:latin typeface="Chunk Five"/>
                <a:ea typeface="Chunk Five"/>
                <a:cs typeface="Chunk Five"/>
                <a:sym typeface="Chunk Five"/>
              </a:rPr>
              <a:t>WHERE AND WHEN DID NETFLIX’S PRODUCTION EXPLODE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2101470"/>
            <a:ext cx="4361889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CHARTS SHOW A CLEAR ESCALATION IN CONTENT PUBLISHING, WITH THE UNITED STATES HOLDING THE FIRST PLACE IN GLOBAL PRODUCTION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3" y="31290"/>
            <a:ext cx="9902857" cy="1027462"/>
            <a:chOff x="0" y="0"/>
            <a:chExt cx="13203809" cy="1369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9949"/>
            </a:xfrm>
            <a:custGeom>
              <a:avLst/>
              <a:gdLst/>
              <a:ahLst/>
              <a:cxnLst/>
              <a:rect l="l" t="t" r="r" b="b"/>
              <a:pathLst>
                <a:path w="13203810" h="1369949">
                  <a:moveTo>
                    <a:pt x="0" y="0"/>
                  </a:moveTo>
                  <a:lnTo>
                    <a:pt x="13203810" y="0"/>
                  </a:lnTo>
                  <a:lnTo>
                    <a:pt x="13203810" y="1369949"/>
                  </a:lnTo>
                  <a:lnTo>
                    <a:pt x="0" y="1369949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9113008">
            <a:off x="2752502" y="2076650"/>
            <a:ext cx="1918831" cy="1130366"/>
          </a:xfrm>
          <a:custGeom>
            <a:avLst/>
            <a:gdLst/>
            <a:ahLst/>
            <a:cxnLst/>
            <a:rect l="l" t="t" r="r" b="b"/>
            <a:pathLst>
              <a:path w="1918831" h="1130366">
                <a:moveTo>
                  <a:pt x="0" y="0"/>
                </a:moveTo>
                <a:lnTo>
                  <a:pt x="1918830" y="0"/>
                </a:lnTo>
                <a:lnTo>
                  <a:pt x="1918830" y="1130366"/>
                </a:lnTo>
                <a:lnTo>
                  <a:pt x="0" y="1130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4409958" y="1195905"/>
            <a:ext cx="4690052" cy="1812961"/>
          </a:xfrm>
          <a:custGeom>
            <a:avLst/>
            <a:gdLst/>
            <a:ahLst/>
            <a:cxnLst/>
            <a:rect l="l" t="t" r="r" b="b"/>
            <a:pathLst>
              <a:path w="4690052" h="1812961">
                <a:moveTo>
                  <a:pt x="0" y="0"/>
                </a:moveTo>
                <a:lnTo>
                  <a:pt x="4690052" y="0"/>
                </a:lnTo>
                <a:lnTo>
                  <a:pt x="4690052" y="1812961"/>
                </a:lnTo>
                <a:lnTo>
                  <a:pt x="0" y="1812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07923" y="3629332"/>
            <a:ext cx="4531003" cy="1796130"/>
          </a:xfrm>
          <a:custGeom>
            <a:avLst/>
            <a:gdLst/>
            <a:ahLst/>
            <a:cxnLst/>
            <a:rect l="l" t="t" r="r" b="b"/>
            <a:pathLst>
              <a:path w="4531003" h="1796130">
                <a:moveTo>
                  <a:pt x="0" y="0"/>
                </a:moveTo>
                <a:lnTo>
                  <a:pt x="4531003" y="0"/>
                </a:lnTo>
                <a:lnTo>
                  <a:pt x="4531003" y="1796130"/>
                </a:lnTo>
                <a:lnTo>
                  <a:pt x="0" y="17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864" y="262452"/>
            <a:ext cx="649180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Some Key Findings from the Data 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09958" y="3056491"/>
            <a:ext cx="5119621" cy="1814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933">
                <a:solidFill>
                  <a:srgbClr val="353534"/>
                </a:solidFill>
                <a:latin typeface="Chunk Five"/>
                <a:ea typeface="Chunk Five"/>
                <a:cs typeface="Chunk Five"/>
                <a:sym typeface="Chunk Five"/>
              </a:rPr>
              <a:t>WHAT IS THE MOST COMMON CONTENT, AND WHO IS THE MAIN TARGET AUDIENCE?</a:t>
            </a:r>
          </a:p>
          <a:p>
            <a:pPr algn="ctr">
              <a:lnSpc>
                <a:spcPts val="2984"/>
              </a:lnSpc>
              <a:spcBef>
                <a:spcPct val="0"/>
              </a:spcBef>
            </a:pPr>
            <a:endParaRPr lang="en-US" sz="1933">
              <a:solidFill>
                <a:srgbClr val="353534"/>
              </a:solidFill>
              <a:latin typeface="Chunk Five"/>
              <a:ea typeface="Chunk Five"/>
              <a:cs typeface="Chunk Five"/>
              <a:sym typeface="Chunk Five"/>
            </a:endParaRPr>
          </a:p>
          <a:p>
            <a:pPr algn="ctr">
              <a:lnSpc>
                <a:spcPts val="2984"/>
              </a:lnSpc>
              <a:spcBef>
                <a:spcPct val="0"/>
              </a:spcBef>
            </a:pPr>
            <a:endParaRPr lang="en-US" sz="1933">
              <a:solidFill>
                <a:srgbClr val="353534"/>
              </a:solidFill>
              <a:latin typeface="Chunk Five"/>
              <a:ea typeface="Chunk Five"/>
              <a:cs typeface="Chunk Five"/>
              <a:sym typeface="Chunk Fiv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69371" y="4212332"/>
            <a:ext cx="4361889" cy="262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CHARTS HIGHLIGHT INTERNATIONAL MOVIES AND DRAMAS AS THE MOST COMMON CONTENT, WITH THE MAJORITY OF PRODUCTION TARGETING MATURE AUDIENCES (TV-MA)</a:t>
            </a:r>
          </a:p>
          <a:p>
            <a:pPr algn="ctr">
              <a:lnSpc>
                <a:spcPts val="2660"/>
              </a:lnSpc>
            </a:pPr>
            <a:endParaRPr lang="en-US" sz="1900" b="1">
              <a:solidFill>
                <a:srgbClr val="353534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2380"/>
              </a:lnSpc>
            </a:pPr>
            <a:endParaRPr lang="en-US" sz="1900" b="1">
              <a:solidFill>
                <a:srgbClr val="353534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2500" y="1775871"/>
            <a:ext cx="7345064" cy="4081290"/>
          </a:xfrm>
          <a:custGeom>
            <a:avLst/>
            <a:gdLst/>
            <a:ahLst/>
            <a:cxnLst/>
            <a:rect l="l" t="t" r="r" b="b"/>
            <a:pathLst>
              <a:path w="7345064" h="4081290">
                <a:moveTo>
                  <a:pt x="0" y="0"/>
                </a:moveTo>
                <a:lnTo>
                  <a:pt x="7345064" y="0"/>
                </a:lnTo>
                <a:lnTo>
                  <a:pt x="7345064" y="4081290"/>
                </a:lnTo>
                <a:lnTo>
                  <a:pt x="0" y="408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500" y="389756"/>
            <a:ext cx="7682941" cy="9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</a:pPr>
            <a:r>
              <a:rPr lang="en-US" sz="30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Quick Look on Netflix Content Stratagy</a:t>
            </a:r>
          </a:p>
          <a:p>
            <a:pPr algn="ctr">
              <a:lnSpc>
                <a:spcPts val="3718"/>
              </a:lnSpc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Page Two</a:t>
            </a:r>
          </a:p>
        </p:txBody>
      </p:sp>
      <p:sp>
        <p:nvSpPr>
          <p:cNvPr id="5" name="Freeform 5"/>
          <p:cNvSpPr/>
          <p:nvPr/>
        </p:nvSpPr>
        <p:spPr>
          <a:xfrm rot="1864657">
            <a:off x="7306750" y="1126303"/>
            <a:ext cx="2370066" cy="2385678"/>
          </a:xfrm>
          <a:custGeom>
            <a:avLst/>
            <a:gdLst/>
            <a:ahLst/>
            <a:cxnLst/>
            <a:rect l="l" t="t" r="r" b="b"/>
            <a:pathLst>
              <a:path w="2370066" h="2385678">
                <a:moveTo>
                  <a:pt x="0" y="0"/>
                </a:moveTo>
                <a:lnTo>
                  <a:pt x="2370066" y="0"/>
                </a:lnTo>
                <a:lnTo>
                  <a:pt x="2370066" y="2385678"/>
                </a:lnTo>
                <a:lnTo>
                  <a:pt x="0" y="2385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31" t="-400" b="-400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3" y="31290"/>
            <a:ext cx="9902857" cy="1027462"/>
            <a:chOff x="0" y="0"/>
            <a:chExt cx="13203809" cy="1369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9949"/>
            </a:xfrm>
            <a:custGeom>
              <a:avLst/>
              <a:gdLst/>
              <a:ahLst/>
              <a:cxnLst/>
              <a:rect l="l" t="t" r="r" b="b"/>
              <a:pathLst>
                <a:path w="13203810" h="1369949">
                  <a:moveTo>
                    <a:pt x="0" y="0"/>
                  </a:moveTo>
                  <a:lnTo>
                    <a:pt x="13203810" y="0"/>
                  </a:lnTo>
                  <a:lnTo>
                    <a:pt x="13203810" y="1369949"/>
                  </a:lnTo>
                  <a:lnTo>
                    <a:pt x="0" y="1369949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976682">
            <a:off x="5277814" y="3465133"/>
            <a:ext cx="1918831" cy="1130366"/>
          </a:xfrm>
          <a:custGeom>
            <a:avLst/>
            <a:gdLst/>
            <a:ahLst/>
            <a:cxnLst/>
            <a:rect l="l" t="t" r="r" b="b"/>
            <a:pathLst>
              <a:path w="1918831" h="1130366">
                <a:moveTo>
                  <a:pt x="0" y="0"/>
                </a:moveTo>
                <a:lnTo>
                  <a:pt x="1918831" y="0"/>
                </a:lnTo>
                <a:lnTo>
                  <a:pt x="1918831" y="1130365"/>
                </a:lnTo>
                <a:lnTo>
                  <a:pt x="0" y="1130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360108" y="4155695"/>
            <a:ext cx="5053675" cy="1939443"/>
          </a:xfrm>
          <a:custGeom>
            <a:avLst/>
            <a:gdLst/>
            <a:ahLst/>
            <a:cxnLst/>
            <a:rect l="l" t="t" r="r" b="b"/>
            <a:pathLst>
              <a:path w="5053675" h="1939443">
                <a:moveTo>
                  <a:pt x="0" y="0"/>
                </a:moveTo>
                <a:lnTo>
                  <a:pt x="5053675" y="0"/>
                </a:lnTo>
                <a:lnTo>
                  <a:pt x="5053675" y="1939443"/>
                </a:lnTo>
                <a:lnTo>
                  <a:pt x="0" y="1939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5413783" y="1503025"/>
            <a:ext cx="4385473" cy="1722865"/>
          </a:xfrm>
          <a:custGeom>
            <a:avLst/>
            <a:gdLst/>
            <a:ahLst/>
            <a:cxnLst/>
            <a:rect l="l" t="t" r="r" b="b"/>
            <a:pathLst>
              <a:path w="4385473" h="1722865">
                <a:moveTo>
                  <a:pt x="0" y="0"/>
                </a:moveTo>
                <a:lnTo>
                  <a:pt x="4385473" y="0"/>
                </a:lnTo>
                <a:lnTo>
                  <a:pt x="4385473" y="1722865"/>
                </a:lnTo>
                <a:lnTo>
                  <a:pt x="0" y="1722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864" y="262452"/>
            <a:ext cx="649180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Some Key Findings from the Data 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8629" y="1073059"/>
            <a:ext cx="5149353" cy="130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208" lvl="1" indent="-199104" algn="ctr">
              <a:lnSpc>
                <a:spcPts val="2582"/>
              </a:lnSpc>
              <a:spcBef>
                <a:spcPct val="0"/>
              </a:spcBef>
              <a:buFont typeface="Arial"/>
              <a:buChar char="•"/>
            </a:pPr>
            <a:r>
              <a:rPr lang="en-US" sz="1844">
                <a:solidFill>
                  <a:srgbClr val="353534"/>
                </a:solidFill>
                <a:latin typeface="Chunk Five"/>
                <a:ea typeface="Chunk Five"/>
                <a:cs typeface="Chunk Five"/>
                <a:sym typeface="Chunk Five"/>
              </a:rPr>
              <a:t>WHO IS THE MAIN TARGET AUDIENCE, AND WHICH GENRES DOMINATE THE STRATEGY?</a:t>
            </a:r>
          </a:p>
          <a:p>
            <a:pPr algn="ctr">
              <a:lnSpc>
                <a:spcPts val="2442"/>
              </a:lnSpc>
              <a:spcBef>
                <a:spcPct val="0"/>
              </a:spcBef>
            </a:pPr>
            <a:endParaRPr lang="en-US" sz="1844">
              <a:solidFill>
                <a:srgbClr val="353534"/>
              </a:solidFill>
              <a:latin typeface="Chunk Five"/>
              <a:ea typeface="Chunk Five"/>
              <a:cs typeface="Chunk Five"/>
              <a:sym typeface="Chunk Fiv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85800" y="2173288"/>
            <a:ext cx="4472055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CHARTS HIGHLIGHT A STRATEGIC FOCUS ON MATURE AUDIENCES (TV-MA), PRIMARILY DRIVEN BY INTERNATIONAL MOVIES AND DRAMAS</a:t>
            </a:r>
          </a:p>
          <a:p>
            <a:pPr algn="ctr">
              <a:lnSpc>
                <a:spcPts val="2800"/>
              </a:lnSpc>
            </a:pPr>
            <a:endParaRPr lang="en-US" sz="2000" b="1">
              <a:solidFill>
                <a:srgbClr val="353534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2800"/>
              </a:lnSpc>
            </a:pPr>
            <a:endParaRPr lang="en-US" sz="2000" b="1">
              <a:solidFill>
                <a:srgbClr val="353534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3" y="31290"/>
            <a:ext cx="9902857" cy="1027462"/>
            <a:chOff x="0" y="0"/>
            <a:chExt cx="13203809" cy="1369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9949"/>
            </a:xfrm>
            <a:custGeom>
              <a:avLst/>
              <a:gdLst/>
              <a:ahLst/>
              <a:cxnLst/>
              <a:rect l="l" t="t" r="r" b="b"/>
              <a:pathLst>
                <a:path w="13203810" h="1369949">
                  <a:moveTo>
                    <a:pt x="0" y="0"/>
                  </a:moveTo>
                  <a:lnTo>
                    <a:pt x="13203810" y="0"/>
                  </a:lnTo>
                  <a:lnTo>
                    <a:pt x="13203810" y="1369949"/>
                  </a:lnTo>
                  <a:lnTo>
                    <a:pt x="0" y="1369949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9566291">
            <a:off x="3027304" y="2512079"/>
            <a:ext cx="1918831" cy="1130366"/>
          </a:xfrm>
          <a:custGeom>
            <a:avLst/>
            <a:gdLst/>
            <a:ahLst/>
            <a:cxnLst/>
            <a:rect l="l" t="t" r="r" b="b"/>
            <a:pathLst>
              <a:path w="1918831" h="1130366">
                <a:moveTo>
                  <a:pt x="0" y="0"/>
                </a:moveTo>
                <a:lnTo>
                  <a:pt x="1918831" y="0"/>
                </a:lnTo>
                <a:lnTo>
                  <a:pt x="1918831" y="1130366"/>
                </a:lnTo>
                <a:lnTo>
                  <a:pt x="0" y="1130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4770212" y="1207502"/>
            <a:ext cx="4583335" cy="1785964"/>
          </a:xfrm>
          <a:custGeom>
            <a:avLst/>
            <a:gdLst/>
            <a:ahLst/>
            <a:cxnLst/>
            <a:rect l="l" t="t" r="r" b="b"/>
            <a:pathLst>
              <a:path w="4583335" h="1785964">
                <a:moveTo>
                  <a:pt x="0" y="0"/>
                </a:moveTo>
                <a:lnTo>
                  <a:pt x="4583335" y="0"/>
                </a:lnTo>
                <a:lnTo>
                  <a:pt x="4583335" y="1785964"/>
                </a:lnTo>
                <a:lnTo>
                  <a:pt x="0" y="1785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50862" y="3943403"/>
            <a:ext cx="4532949" cy="1786664"/>
          </a:xfrm>
          <a:custGeom>
            <a:avLst/>
            <a:gdLst/>
            <a:ahLst/>
            <a:cxnLst/>
            <a:rect l="l" t="t" r="r" b="b"/>
            <a:pathLst>
              <a:path w="4532949" h="1786664">
                <a:moveTo>
                  <a:pt x="0" y="0"/>
                </a:moveTo>
                <a:lnTo>
                  <a:pt x="4532949" y="0"/>
                </a:lnTo>
                <a:lnTo>
                  <a:pt x="4532949" y="1786663"/>
                </a:lnTo>
                <a:lnTo>
                  <a:pt x="0" y="1786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864" y="262452"/>
            <a:ext cx="649180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Some Key Findings from the Data 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09958" y="3056491"/>
            <a:ext cx="5119621" cy="143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933">
                <a:solidFill>
                  <a:srgbClr val="353534"/>
                </a:solidFill>
                <a:latin typeface="Chunk Five"/>
                <a:ea typeface="Chunk Five"/>
                <a:cs typeface="Chunk Five"/>
                <a:sym typeface="Chunk Five"/>
              </a:rPr>
              <a:t>WHAT DEFINES NETFLIX'S STRATEGY IN EGYPT, AND WHICH GENRES ARE MOST POPULAR?</a:t>
            </a:r>
          </a:p>
          <a:p>
            <a:pPr algn="ctr">
              <a:lnSpc>
                <a:spcPts val="2984"/>
              </a:lnSpc>
              <a:spcBef>
                <a:spcPct val="0"/>
              </a:spcBef>
            </a:pPr>
            <a:endParaRPr lang="en-US" sz="1933">
              <a:solidFill>
                <a:srgbClr val="353534"/>
              </a:solidFill>
              <a:latin typeface="Chunk Five"/>
              <a:ea typeface="Chunk Five"/>
              <a:cs typeface="Chunk Five"/>
              <a:sym typeface="Chunk Fiv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69371" y="4212332"/>
            <a:ext cx="4660208" cy="228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353534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CHARTS SHOW THAT THE EGYPTIAN MARKET IS DOMINATED BY CINEMATIC CONTENT, WITH A HIGH DEMAND FOR INTERNATIONAL MOVIES AND COMEDIES</a:t>
            </a:r>
          </a:p>
          <a:p>
            <a:pPr algn="ctr">
              <a:lnSpc>
                <a:spcPts val="2660"/>
              </a:lnSpc>
            </a:pPr>
            <a:endParaRPr lang="en-US" sz="1900" b="1">
              <a:solidFill>
                <a:srgbClr val="353534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2380"/>
              </a:lnSpc>
            </a:pPr>
            <a:endParaRPr lang="en-US" sz="1900" b="1">
              <a:solidFill>
                <a:srgbClr val="353534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00671" y="307612"/>
            <a:ext cx="413042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-230723" y="1170190"/>
            <a:ext cx="1034839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87633" y="2502337"/>
            <a:ext cx="8989929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THIS ANALYSIS MAPS NETFLIX’S CONTENT STRATEGY UP TO 2021, SERVING AS A CLEAR HISTORICAL BASELINE TO MEASURE THE PLATFORM'S FUTURE EVOLUTION AND STRATEGIC DECISIONS.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79" y="5583412"/>
            <a:ext cx="9309849" cy="77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id="3" name="Freeform 3"/>
          <p:cNvSpPr/>
          <p:nvPr/>
        </p:nvSpPr>
        <p:spPr>
          <a:xfrm>
            <a:off x="8066551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070" b="-207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3271256" y="2628881"/>
            <a:ext cx="3360306" cy="1102138"/>
            <a:chOff x="0" y="0"/>
            <a:chExt cx="4480408" cy="1469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80433" cy="1469517"/>
            </a:xfrm>
            <a:custGeom>
              <a:avLst/>
              <a:gdLst/>
              <a:ahLst/>
              <a:cxnLst/>
              <a:rect l="l" t="t" r="r" b="b"/>
              <a:pathLst>
                <a:path w="4480433" h="1469517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1" b="-10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Custom</PresentationFormat>
  <Paragraphs>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Arimo Bold</vt:lpstr>
      <vt:lpstr>Calibri</vt:lpstr>
      <vt:lpstr>Arial MT Pro Bold</vt:lpstr>
      <vt:lpstr>Arial</vt:lpstr>
      <vt:lpstr>Merriweather</vt:lpstr>
      <vt:lpstr>Merriweather Bold</vt:lpstr>
      <vt:lpstr>Chunk Five</vt:lpstr>
      <vt:lpstr>DM Sans Bold</vt:lpstr>
      <vt:lpstr>Arimo</vt:lpstr>
      <vt:lpstr>Arial MT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in Numbers: A Comprehensive Look at the Content Library and Platform Trends</dc:title>
  <cp:lastModifiedBy>yossef Haytham Mousa</cp:lastModifiedBy>
  <cp:revision>2</cp:revision>
  <dcterms:created xsi:type="dcterms:W3CDTF">2006-08-16T00:00:00Z</dcterms:created>
  <dcterms:modified xsi:type="dcterms:W3CDTF">2026-08-13T22:27:21Z</dcterms:modified>
  <dc:identifier>DAHSMjOCJME</dc:identifier>
</cp:coreProperties>
</file>